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c79dca48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c79dca48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2e52b0cd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2e52b0cd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2e52b0c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2e52b0c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2e52b0c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2e52b0c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b4809cf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b4809cf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b4809cf4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b4809cf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b4809cf4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7b4809cf4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c79dca4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7c79dca4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c79dca48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c79dca48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c79dca486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7c79dca486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c79dca486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c79dca486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c79dca48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c79dca48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7EEXvDyUb9uTZi7VWWBCUPR1Qw_LDOlR/view?usp=sharing" TargetMode="External"/><Relationship Id="rId4" Type="http://schemas.openxmlformats.org/officeDocument/2006/relationships/hyperlink" Target="https://drive.google.com/file/d/17EEXvDyUb9uTZi7VWWBCUPR1Qw_LDOlR/view?usp=sharing" TargetMode="External"/><Relationship Id="rId11" Type="http://schemas.openxmlformats.org/officeDocument/2006/relationships/hyperlink" Target="https://drive.google.com/file/d/1szlPlB_ZvwZV23uUS6-oFk64h4WRrmgC/view?usp=sharing" TargetMode="External"/><Relationship Id="rId10" Type="http://schemas.openxmlformats.org/officeDocument/2006/relationships/hyperlink" Target="https://drive.google.com/file/d/1szlPlB_ZvwZV23uUS6-oFk64h4WRrmgC/view?usp=sharing" TargetMode="External"/><Relationship Id="rId12" Type="http://schemas.openxmlformats.org/officeDocument/2006/relationships/hyperlink" Target="https://drive.google.com/file/d/1szlPlB_ZvwZV23uUS6-oFk64h4WRrmgC/view?usp=sharing" TargetMode="External"/><Relationship Id="rId9" Type="http://schemas.openxmlformats.org/officeDocument/2006/relationships/hyperlink" Target="https://drive.google.com/file/d/1Q7ngFQL0xiGtAOGzppwUnvN73jn1OP7d/view?usp=sharing" TargetMode="External"/><Relationship Id="rId5" Type="http://schemas.openxmlformats.org/officeDocument/2006/relationships/hyperlink" Target="https://drive.google.com/file/d/1sgrVm2WS4VAk7AkNAHNXSz66_gCL9po2/view?usp=sharing" TargetMode="External"/><Relationship Id="rId6" Type="http://schemas.openxmlformats.org/officeDocument/2006/relationships/hyperlink" Target="https://drive.google.com/file/d/18csJbMd1vRMiS9aS9ainj1G1RiGFsitp/view?usp=sharing" TargetMode="External"/><Relationship Id="rId7" Type="http://schemas.openxmlformats.org/officeDocument/2006/relationships/hyperlink" Target="https://drive.google.com/file/d/18csJbMd1vRMiS9aS9ainj1G1RiGFsitp/view?usp=sharing" TargetMode="External"/><Relationship Id="rId8" Type="http://schemas.openxmlformats.org/officeDocument/2006/relationships/hyperlink" Target="https://drive.google.com/file/d/18csJbMd1vRMiS9aS9ainj1G1RiGFsitp/view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Trabajo Práctico II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ctrTitle"/>
          </p:nvPr>
        </p:nvSpPr>
        <p:spPr>
          <a:xfrm>
            <a:off x="311700" y="319875"/>
            <a:ext cx="8520600" cy="277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raster para la Identificación de áreas óptimas para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 respecto del TP II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lo largo del cuatrimestre vimos va</a:t>
            </a:r>
            <a:r>
              <a:rPr lang="es"/>
              <a:t>rias herramientas para trabajar, manejar y realizar análisis espaciales con datos raster. </a:t>
            </a:r>
            <a:r>
              <a:rPr b="1" lang="es"/>
              <a:t>El objetivo del TP II es que ustedes apliquen los conocimientos adquiridos en el </a:t>
            </a:r>
            <a:r>
              <a:rPr b="1" lang="es"/>
              <a:t>cuatrimestre</a:t>
            </a:r>
            <a:r>
              <a:rPr b="1" lang="es"/>
              <a:t> realizando un análisis multicriterio con una temática que sea de su interés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Los análisis NO debe limitarse a los datos usados en clase.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Por eso, comparto algunos datos usados y otros no usados pero que puedan ser de interés.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Algunos datos que pueden ser de inter</a:t>
            </a:r>
            <a:r>
              <a:rPr lang="es"/>
              <a:t>és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u="sng">
                <a:solidFill>
                  <a:schemeClr val="hlink"/>
                </a:solidFill>
                <a:hlinkClick r:id="rId3"/>
              </a:rPr>
              <a:t>Estaciones meteorol</a:t>
            </a:r>
            <a:r>
              <a:rPr lang="es" u="sng">
                <a:solidFill>
                  <a:schemeClr val="hlink"/>
                </a:solidFill>
                <a:hlinkClick r:id="rId4"/>
              </a:rPr>
              <a:t>ógicas con precipitación media</a:t>
            </a:r>
            <a:r>
              <a:rPr lang="es"/>
              <a:t>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u="sng">
                <a:solidFill>
                  <a:schemeClr val="hlink"/>
                </a:solidFill>
                <a:hlinkClick r:id="rId5"/>
              </a:rPr>
              <a:t>Puntos especies de biodiversidad en Misiones</a:t>
            </a:r>
            <a:r>
              <a:rPr lang="es"/>
              <a:t>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u="sng">
                <a:solidFill>
                  <a:schemeClr val="hlink"/>
                </a:solidFill>
                <a:hlinkClick r:id="rId6"/>
              </a:rPr>
              <a:t>Áreas Naturales </a:t>
            </a:r>
            <a:r>
              <a:rPr lang="es" u="sng">
                <a:solidFill>
                  <a:schemeClr val="hlink"/>
                </a:solidFill>
                <a:hlinkClick r:id="rId7"/>
              </a:rPr>
              <a:t>Protegidas</a:t>
            </a:r>
            <a:r>
              <a:rPr lang="es" u="sng">
                <a:solidFill>
                  <a:schemeClr val="hlink"/>
                </a:solidFill>
                <a:hlinkClick r:id="rId8"/>
              </a:rPr>
              <a:t> de Misiones</a:t>
            </a:r>
            <a:r>
              <a:rPr lang="es"/>
              <a:t>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u="sng">
                <a:solidFill>
                  <a:schemeClr val="hlink"/>
                </a:solidFill>
                <a:hlinkClick r:id="rId9"/>
              </a:rPr>
              <a:t>Uso y Cobertura del Suelo</a:t>
            </a:r>
            <a:r>
              <a:rPr lang="es"/>
              <a:t>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u="sng">
                <a:solidFill>
                  <a:schemeClr val="hlink"/>
                </a:solidFill>
                <a:hlinkClick r:id="rId10"/>
              </a:rPr>
              <a:t>Precipitación media proyectado para 2024-2060 acorde cambio </a:t>
            </a:r>
            <a:r>
              <a:rPr lang="es" u="sng">
                <a:solidFill>
                  <a:schemeClr val="hlink"/>
                </a:solidFill>
                <a:hlinkClick r:id="rId11"/>
              </a:rPr>
              <a:t>climático</a:t>
            </a:r>
            <a:r>
              <a:rPr lang="es" u="sng">
                <a:solidFill>
                  <a:schemeClr val="hlink"/>
                </a:solidFill>
                <a:hlinkClick r:id="rId12"/>
              </a:rPr>
              <a:t> para Misiones</a:t>
            </a:r>
            <a:r>
              <a:rPr lang="es"/>
              <a:t>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ctrTitle"/>
          </p:nvPr>
        </p:nvSpPr>
        <p:spPr>
          <a:xfrm>
            <a:off x="311700" y="319875"/>
            <a:ext cx="8520600" cy="277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raster para la </a:t>
            </a:r>
            <a:r>
              <a:rPr lang="es"/>
              <a:t>Identificación de áreas óptimas para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2800">
                <a:solidFill>
                  <a:schemeClr val="dk1"/>
                </a:solidFill>
              </a:rPr>
              <a:t>Instalación de relleno sanitario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2800">
                <a:solidFill>
                  <a:schemeClr val="dk1"/>
                </a:solidFill>
              </a:rPr>
              <a:t>Instalación de Pasa fauna en Rutas Nacionales</a:t>
            </a:r>
            <a:endParaRPr sz="2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2800">
                <a:solidFill>
                  <a:schemeClr val="dk1"/>
                </a:solidFill>
              </a:rPr>
              <a:t>Instalación de áreas protegidas para la conservación</a:t>
            </a:r>
            <a:endParaRPr sz="2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2800">
                <a:solidFill>
                  <a:schemeClr val="dk1"/>
                </a:solidFill>
              </a:rPr>
              <a:t>Instalación de nuevas escuelas</a:t>
            </a:r>
            <a:endParaRPr sz="2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2800">
                <a:solidFill>
                  <a:schemeClr val="dk1"/>
                </a:solidFill>
              </a:rPr>
              <a:t>Instalación de nuevos hospitales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s" sz="2800">
                <a:solidFill>
                  <a:schemeClr val="dk1"/>
                </a:solidFill>
              </a:rPr>
              <a:t>Instalación de algún tipo de cultivo considerando cambio climático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Algunas sugerencias de temas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PUNTOS DE EVALUACIÓN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Objetivo y justificaci</a:t>
            </a:r>
            <a:r>
              <a:rPr lang="es"/>
              <a:t>ón alineada con algún artículo científico;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Cantidad de datos usados;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Cantidad de herramientas usadas;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Lógica y complejidad de la l</a:t>
            </a:r>
            <a:r>
              <a:rPr lang="es"/>
              <a:t>ógica de </a:t>
            </a:r>
            <a:r>
              <a:rPr lang="es"/>
              <a:t>decisión</a:t>
            </a:r>
            <a:r>
              <a:rPr lang="es"/>
              <a:t> para </a:t>
            </a:r>
            <a:r>
              <a:rPr lang="es"/>
              <a:t>identificación de área óptima (criterios usados);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Calidad de los mapas y gr</a:t>
            </a:r>
            <a:r>
              <a:rPr lang="es"/>
              <a:t>áficos presentados;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Presentaci</a:t>
            </a:r>
            <a:r>
              <a:rPr lang="es"/>
              <a:t>ón del informe final</a:t>
            </a:r>
            <a:r>
              <a:rPr lang="es"/>
              <a:t>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A SER ENTREGADO: Informe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Informe</a:t>
            </a:r>
            <a:r>
              <a:rPr lang="es"/>
              <a:t> que deberá contener: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Nombre;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Objetivo </a:t>
            </a:r>
            <a:r>
              <a:rPr lang="es"/>
              <a:t>y justificación de la importancia del tema elegido</a:t>
            </a:r>
            <a:r>
              <a:rPr lang="es"/>
              <a:t>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Datos usados, sus fuente</a:t>
            </a:r>
            <a:r>
              <a:rPr lang="es"/>
              <a:t>s y características (resolución espacial, temporal, etc.)</a:t>
            </a:r>
            <a:r>
              <a:rPr lang="es"/>
              <a:t>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Pasos desarrollados en la preparaci</a:t>
            </a:r>
            <a:r>
              <a:rPr lang="es"/>
              <a:t>ón del dato</a:t>
            </a:r>
            <a:r>
              <a:rPr lang="es"/>
              <a:t>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Expresión usada en la identificación del área óptima y su justificación;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Gráficos e </a:t>
            </a:r>
            <a:r>
              <a:rPr lang="es"/>
              <a:t>imágenes</a:t>
            </a:r>
            <a:r>
              <a:rPr lang="es"/>
              <a:t> (si necesario);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Mapa final;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Fecha de entrega: </a:t>
            </a:r>
            <a:r>
              <a:rPr lang="es">
                <a:solidFill>
                  <a:schemeClr val="dk1"/>
                </a:solidFill>
              </a:rPr>
              <a:t>Miércoles</a:t>
            </a:r>
            <a:r>
              <a:rPr lang="es">
                <a:solidFill>
                  <a:schemeClr val="dk1"/>
                </a:solidFill>
              </a:rPr>
              <a:t> 20/11/2024, hasta las 23:59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Atenci</a:t>
            </a:r>
            <a:r>
              <a:rPr b="1" lang="es">
                <a:solidFill>
                  <a:srgbClr val="FF0000"/>
                </a:solidFill>
              </a:rPr>
              <a:t>ón: No usar captura de pantalla! Ustedes ya están en segundo año y se espero que sepan producir mapas y gráficos;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Identificación de áreas óptimas para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instalación de central térmica nuclear en Misiones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250" y="7763"/>
            <a:ext cx="7852201" cy="5127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utilizados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Ríos y arroyos: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La central deberá estar cerca a ríos de 4ta orden (mínima) ya que depende del agua;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Tipo de suelo: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Como se trata de una central con gran potencial de contaminación, deberá ser construida en áreas de suelo alcalino;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Rutas nacionales: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Como depende de muchos insumos, deberá estar cerca a las rutas nacionales 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Usos del suelo: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Lo más lejo posible de las ciudades y bosques nativos;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Área mínima: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3 Km²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/>
          <p:nvPr/>
        </p:nvSpPr>
        <p:spPr>
          <a:xfrm>
            <a:off x="121375" y="364150"/>
            <a:ext cx="2055900" cy="4278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Datos de entrada:</a:t>
            </a:r>
            <a:endParaRPr b="1"/>
          </a:p>
        </p:txBody>
      </p:sp>
      <p:sp>
        <p:nvSpPr>
          <p:cNvPr id="129" name="Google Shape;129;p25"/>
          <p:cNvSpPr/>
          <p:nvPr/>
        </p:nvSpPr>
        <p:spPr>
          <a:xfrm>
            <a:off x="212425" y="811725"/>
            <a:ext cx="1646100" cy="379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Rutas Nacionales</a:t>
            </a:r>
            <a:endParaRPr sz="1100"/>
          </a:p>
        </p:txBody>
      </p:sp>
      <p:sp>
        <p:nvSpPr>
          <p:cNvPr id="130" name="Google Shape;130;p25"/>
          <p:cNvSpPr/>
          <p:nvPr/>
        </p:nvSpPr>
        <p:spPr>
          <a:xfrm>
            <a:off x="2738650" y="667538"/>
            <a:ext cx="1577950" cy="667575"/>
          </a:xfrm>
          <a:prstGeom prst="flowChartPreparation">
            <a:avLst/>
          </a:prstGeom>
          <a:solidFill>
            <a:srgbClr val="FFF2CC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Entre 200 y 1000 metros</a:t>
            </a:r>
            <a:endParaRPr sz="1100"/>
          </a:p>
        </p:txBody>
      </p:sp>
      <p:cxnSp>
        <p:nvCxnSpPr>
          <p:cNvPr id="131" name="Google Shape;131;p25"/>
          <p:cNvCxnSpPr>
            <a:stCxn id="129" idx="3"/>
            <a:endCxn id="130" idx="1"/>
          </p:cNvCxnSpPr>
          <p:nvPr/>
        </p:nvCxnSpPr>
        <p:spPr>
          <a:xfrm>
            <a:off x="1858525" y="1001325"/>
            <a:ext cx="88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25"/>
          <p:cNvSpPr/>
          <p:nvPr/>
        </p:nvSpPr>
        <p:spPr>
          <a:xfrm>
            <a:off x="212425" y="1502750"/>
            <a:ext cx="1646100" cy="379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Usos del suelo</a:t>
            </a:r>
            <a:endParaRPr sz="1100"/>
          </a:p>
        </p:txBody>
      </p:sp>
      <p:sp>
        <p:nvSpPr>
          <p:cNvPr id="133" name="Google Shape;133;p25"/>
          <p:cNvSpPr/>
          <p:nvPr/>
        </p:nvSpPr>
        <p:spPr>
          <a:xfrm>
            <a:off x="2662875" y="1394050"/>
            <a:ext cx="1911750" cy="667575"/>
          </a:xfrm>
          <a:prstGeom prst="flowChartPreparation">
            <a:avLst/>
          </a:prstGeom>
          <a:solidFill>
            <a:srgbClr val="FFF2CC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/>
              <a:t>Adecuadas</a:t>
            </a:r>
            <a:r>
              <a:rPr lang="es" sz="1100"/>
              <a:t>: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Pasto; Floresta implantada; …</a:t>
            </a:r>
            <a:endParaRPr sz="1100"/>
          </a:p>
        </p:txBody>
      </p:sp>
      <p:sp>
        <p:nvSpPr>
          <p:cNvPr id="134" name="Google Shape;134;p25"/>
          <p:cNvSpPr/>
          <p:nvPr/>
        </p:nvSpPr>
        <p:spPr>
          <a:xfrm>
            <a:off x="2738650" y="2120550"/>
            <a:ext cx="1911750" cy="667575"/>
          </a:xfrm>
          <a:prstGeom prst="flowChartPreparation">
            <a:avLst/>
          </a:prstGeom>
          <a:solidFill>
            <a:srgbClr val="FFF2CC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/>
              <a:t>Inadecuadas</a:t>
            </a:r>
            <a:r>
              <a:rPr lang="es" sz="1100"/>
              <a:t>: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Ciudades; Bosques nativos; …</a:t>
            </a:r>
            <a:endParaRPr sz="1100"/>
          </a:p>
        </p:txBody>
      </p:sp>
      <p:cxnSp>
        <p:nvCxnSpPr>
          <p:cNvPr id="135" name="Google Shape;135;p25"/>
          <p:cNvCxnSpPr>
            <a:stCxn id="132" idx="3"/>
            <a:endCxn id="133" idx="1"/>
          </p:cNvCxnSpPr>
          <p:nvPr/>
        </p:nvCxnSpPr>
        <p:spPr>
          <a:xfrm>
            <a:off x="1858525" y="1692350"/>
            <a:ext cx="804300" cy="3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5"/>
          <p:cNvCxnSpPr>
            <a:stCxn id="132" idx="3"/>
            <a:endCxn id="134" idx="1"/>
          </p:cNvCxnSpPr>
          <p:nvPr/>
        </p:nvCxnSpPr>
        <p:spPr>
          <a:xfrm>
            <a:off x="1858525" y="1692350"/>
            <a:ext cx="8802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25"/>
          <p:cNvSpPr/>
          <p:nvPr/>
        </p:nvSpPr>
        <p:spPr>
          <a:xfrm>
            <a:off x="5211775" y="568975"/>
            <a:ext cx="3338100" cy="25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Análisis por calculadora ráster: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 - Peso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Rutas Nacionales - 3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del suelo - 5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distancia ríos - 10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…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(Dr. Burns, 2006)</a:t>
            </a:r>
            <a:endParaRPr/>
          </a:p>
        </p:txBody>
      </p:sp>
      <p:sp>
        <p:nvSpPr>
          <p:cNvPr id="138" name="Google Shape;138;p25"/>
          <p:cNvSpPr/>
          <p:nvPr/>
        </p:nvSpPr>
        <p:spPr>
          <a:xfrm>
            <a:off x="4620050" y="568975"/>
            <a:ext cx="546300" cy="2541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25"/>
          <p:cNvGrpSpPr/>
          <p:nvPr/>
        </p:nvGrpSpPr>
        <p:grpSpPr>
          <a:xfrm>
            <a:off x="5683250" y="3282375"/>
            <a:ext cx="2206500" cy="2422375"/>
            <a:chOff x="5683250" y="3282375"/>
            <a:chExt cx="2206500" cy="2422375"/>
          </a:xfrm>
        </p:grpSpPr>
        <p:pic>
          <p:nvPicPr>
            <p:cNvPr id="140" name="Google Shape;140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83250" y="3282375"/>
              <a:ext cx="2206500" cy="2422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99438" y="4007350"/>
              <a:ext cx="962775" cy="972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